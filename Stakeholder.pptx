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72" r:id="rId7"/>
    <p:sldId id="273" r:id="rId8"/>
    <p:sldId id="259" r:id="rId9"/>
    <p:sldId id="260" r:id="rId10"/>
    <p:sldId id="274" r:id="rId11"/>
    <p:sldId id="275" r:id="rId12"/>
    <p:sldId id="276" r:id="rId13"/>
    <p:sldId id="261" r:id="rId14"/>
    <p:sldId id="262" r:id="rId15"/>
    <p:sldId id="263" r:id="rId16"/>
    <p:sldId id="277" r:id="rId17"/>
    <p:sldId id="278" r:id="rId18"/>
    <p:sldId id="279" r:id="rId19"/>
    <p:sldId id="264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4BE603-7887-4777-8AB3-A481CB4F916A}" v="3" dt="2026-02-04T05:26:26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276F-9043-4874-7D81-13F5D50F5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DD508-DDA6-4FB7-EB44-1EEA34AEC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B4FE5-49A9-66D8-196C-6053CB3D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2F4D3-A977-C6C4-72FF-21083F16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5CFE9-D9E0-2C63-CD04-0401972A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7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7B99-F7AB-680A-E3B1-50ECFC7A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CE788-07DB-D027-8BFC-0A84FCBD2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0DC0B-E1FF-C14C-2F49-6893C4B4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CA9E4-8455-3EAA-2991-42338940A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6F28-4878-3DC0-AAA7-47044793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2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DC05-A0C5-1D5E-3E4F-CDACF135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02B03-05CB-89F0-A4B9-DF7FDB236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DFEB4-8CCF-917F-C141-542D092B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E7B0A-7139-6AC7-22CE-171B7DE9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559E3-E66E-D057-331F-AC27DB6B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2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6A83-337E-154F-6DA0-6D6D14B5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3C4D-5907-F759-4FF8-4E5C3B681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29CA1-74E8-0B0F-3731-84B124964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03B16-D9EF-03F9-6FB8-FB51BE70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B73D2-1731-E55E-93E6-EE7773E5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20B9A-76B5-BE55-2604-9968016B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9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7081-865E-AB4B-17E5-467AD3DB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53E3A-8E7E-3806-8905-157FEE62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56D97-C902-1EF4-34F6-06839973C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773EA-4A08-D1D1-9041-317A4B07B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69720-BDE2-226E-9573-E9B685A4C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18B88-F7DA-4C38-6164-5B655936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2C2A5-1FC3-169A-59E1-BFAD25CE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7FC876-2E58-CB96-8A2C-8C5C5FEC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839E-28DE-1707-4854-4F4AECD3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4DB40-7B12-E80F-AA29-2260BBD3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36089-A09E-4918-FE0F-80798B5A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ABA11-F5BB-E4BD-902D-4A42F48A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8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7BC25-E505-4A8D-DB9D-A61BE6A2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DAB54-EC50-4333-77D0-1B132311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27CA2-4668-79BC-D1DF-7AD47D35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6593-D63B-E308-749A-99ECE9F9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8FF56-1FC9-CACD-E00F-4AC851E2C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BFA62-7AF3-E63B-4053-C46376C47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33A07-7928-4D39-5FAF-E0196FA4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2777E-CEE8-B62D-69DC-BAB19963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DE15D-C2E6-17B5-50A4-74CF753B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6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8E3F-9CA2-6FEE-4915-B9FFA6C38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AB02F-AF57-92D9-1559-EABDCF85F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EEDB9-3E2B-787A-FB1B-F9BEECA94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ED71B-849A-1C4E-98A5-54A42041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3F7A2-C798-49C5-C043-7C4A13AD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33504-5DC6-C646-8BBF-4A58522B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4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2843-BAA3-C175-FD9B-E6323CAF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35153-C04A-324D-E65E-E69098C69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01B71-003F-8881-9CEA-75EAA86B2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F51BB-9FBF-4B13-839F-91D6BF5E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63A47-96D0-6A0D-3224-1E4E7515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A25BE-4137-3B23-8B9D-915A6CDCE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81D85-8C23-0E86-DB5B-5B65E53E5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0DA0-1600-5731-17D4-1465B204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44B52-1360-F33C-8952-1E7C3AB3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BD2DA-4ECB-FB9A-EAFD-D18C0F6B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4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1ABE9-76A7-5A74-52E7-76365443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2C118-9B7B-49E9-0E3E-D99F0A4F2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D88ED-1A40-AF5F-F7F2-B976CE8C6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DBD17-51E3-4473-B22C-BC2000E66C2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F58BC-2B51-4D46-AF89-A10E6D727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8AE55-341E-4C61-E459-77B767EAC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24663-36FB-4560-A8E8-6EF0449D1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2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AA2D-F1BE-7063-7269-B719B22E5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FF14-E199-EA1E-3214-F01E170F7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stakeholder</a:t>
            </a:r>
            <a:r>
              <a:rPr lang="en-US" dirty="0"/>
              <a:t> is any individual, group, or organization that can </a:t>
            </a:r>
            <a:r>
              <a:rPr lang="en-US" b="1" dirty="0"/>
              <a:t>affect</a:t>
            </a:r>
            <a:r>
              <a:rPr lang="en-US" dirty="0"/>
              <a:t>, or is </a:t>
            </a:r>
            <a:r>
              <a:rPr lang="en-US" b="1" dirty="0"/>
              <a:t>affected by</a:t>
            </a:r>
            <a:r>
              <a:rPr lang="en-US" dirty="0"/>
              <a:t>, a project, product, or service.</a:t>
            </a:r>
          </a:p>
          <a:p>
            <a:r>
              <a:rPr lang="en-US" b="1" dirty="0"/>
              <a:t>Types of Stakeholders in an IT Company</a:t>
            </a:r>
          </a:p>
          <a:p>
            <a:r>
              <a:rPr lang="en-US" b="1" dirty="0"/>
              <a:t>Internal Stakeholders</a:t>
            </a:r>
          </a:p>
          <a:p>
            <a:pPr lvl="1"/>
            <a:r>
              <a:rPr lang="en-US" dirty="0"/>
              <a:t>Project Manager</a:t>
            </a:r>
          </a:p>
          <a:p>
            <a:pPr lvl="1"/>
            <a:r>
              <a:rPr lang="en-US" dirty="0"/>
              <a:t>Developers / QA Engineers</a:t>
            </a:r>
          </a:p>
          <a:p>
            <a:pPr lvl="1"/>
            <a:r>
              <a:rPr lang="en-US" dirty="0"/>
              <a:t>UX/UI Designers</a:t>
            </a:r>
          </a:p>
          <a:p>
            <a:pPr lvl="1"/>
            <a:r>
              <a:rPr lang="en-US" dirty="0"/>
              <a:t>Product Owner</a:t>
            </a:r>
          </a:p>
          <a:p>
            <a:pPr lvl="1"/>
            <a:r>
              <a:rPr lang="en-US" dirty="0"/>
              <a:t>Senior Management</a:t>
            </a:r>
          </a:p>
          <a:p>
            <a:pPr lvl="1"/>
            <a:r>
              <a:rPr lang="en-US" dirty="0"/>
              <a:t>DevOps / IT Support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8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68D65-5004-A44C-898E-625DC912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24A6-D634-E9DD-341E-E1784525D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External Stakeholders</a:t>
            </a:r>
          </a:p>
          <a:p>
            <a:pPr lvl="1"/>
            <a:r>
              <a:rPr lang="en-US" dirty="0"/>
              <a:t>Clients / Customers</a:t>
            </a:r>
          </a:p>
          <a:p>
            <a:pPr lvl="1"/>
            <a:r>
              <a:rPr lang="en-US" dirty="0"/>
              <a:t>Vendors / Cloud Service Providers (AWS, Azure)</a:t>
            </a:r>
          </a:p>
          <a:p>
            <a:pPr lvl="1"/>
            <a:r>
              <a:rPr lang="en-US" dirty="0"/>
              <a:t>Regulatory Bodies</a:t>
            </a:r>
          </a:p>
          <a:p>
            <a:pPr lvl="1"/>
            <a:r>
              <a:rPr lang="en-US" dirty="0"/>
              <a:t>End Users</a:t>
            </a:r>
          </a:p>
          <a:p>
            <a:pPr lvl="1"/>
            <a:r>
              <a:rPr lang="en-US" dirty="0"/>
              <a:t>Third-party API providers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In a </a:t>
            </a:r>
            <a:r>
              <a:rPr lang="en-US" b="1" dirty="0"/>
              <a:t>banking software development project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Client bank = stakeholder</a:t>
            </a:r>
          </a:p>
          <a:p>
            <a:pPr lvl="1"/>
            <a:r>
              <a:rPr lang="en-US" dirty="0"/>
              <a:t>Developers building the app = stakeholders</a:t>
            </a:r>
          </a:p>
          <a:p>
            <a:pPr lvl="1"/>
            <a:r>
              <a:rPr lang="en-US" dirty="0"/>
              <a:t>End users (bank customers) = stakeholders</a:t>
            </a:r>
          </a:p>
          <a:p>
            <a:pPr lvl="1"/>
            <a:r>
              <a:rPr lang="en-US" dirty="0"/>
              <a:t>Security compliance team = stakeholder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77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A249-5BF5-01AD-7DD6-770FBD1C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AF10-B570-6349-BBE7-1FE09C214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stakeholder register is a document that records all identified stakeholders along with their interests, influence, expectations, and communication requirements.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Key Fields</a:t>
            </a:r>
          </a:p>
          <a:p>
            <a:pPr lvl="1"/>
            <a:r>
              <a:rPr lang="en-US" b="1" dirty="0"/>
              <a:t>Interest:</a:t>
            </a:r>
            <a:r>
              <a:rPr lang="en-US" dirty="0"/>
              <a:t> How much the stakeholder cares about the project outcome</a:t>
            </a:r>
          </a:p>
          <a:p>
            <a:pPr lvl="1"/>
            <a:r>
              <a:rPr lang="en-US" b="1" dirty="0"/>
              <a:t>Influence / Power:</a:t>
            </a:r>
            <a:r>
              <a:rPr lang="en-US" dirty="0"/>
              <a:t> Ability to impact project decisions</a:t>
            </a:r>
          </a:p>
          <a:p>
            <a:pPr lvl="1"/>
            <a:r>
              <a:rPr lang="en-US" b="1" dirty="0"/>
              <a:t>Expectations:</a:t>
            </a:r>
            <a:r>
              <a:rPr lang="en-US" dirty="0"/>
              <a:t> What the stakeholder wants from the project</a:t>
            </a:r>
          </a:p>
          <a:p>
            <a:pPr lvl="1"/>
            <a:r>
              <a:rPr lang="en-US" b="1" dirty="0"/>
              <a:t>Engagement Strategy:</a:t>
            </a:r>
            <a:r>
              <a:rPr lang="en-US" dirty="0"/>
              <a:t> How the project team plans to manage them</a:t>
            </a:r>
          </a:p>
          <a:p>
            <a:pPr lvl="1"/>
            <a:r>
              <a:rPr lang="en-US" b="1" dirty="0"/>
              <a:t>Communication Mode:</a:t>
            </a:r>
            <a:r>
              <a:rPr lang="en-US" dirty="0"/>
              <a:t> Channel used for interaction</a:t>
            </a:r>
          </a:p>
          <a:p>
            <a:pPr lvl="1"/>
            <a:r>
              <a:rPr lang="en-US" b="1" dirty="0"/>
              <a:t>Frequency:</a:t>
            </a:r>
            <a:r>
              <a:rPr lang="en-US" dirty="0"/>
              <a:t> How often communication occurs</a:t>
            </a:r>
          </a:p>
          <a:p>
            <a:r>
              <a:rPr lang="en-US" b="1" dirty="0"/>
              <a:t>Why Stakeholder Register is Important</a:t>
            </a:r>
          </a:p>
          <a:p>
            <a:pPr lvl="1"/>
            <a:r>
              <a:rPr lang="en-US" dirty="0"/>
              <a:t>Helps prioritize stakeholders</a:t>
            </a:r>
          </a:p>
          <a:p>
            <a:pPr lvl="1"/>
            <a:r>
              <a:rPr lang="en-US" dirty="0"/>
              <a:t>Improves communication planning</a:t>
            </a:r>
          </a:p>
          <a:p>
            <a:pPr lvl="1"/>
            <a:r>
              <a:rPr lang="en-US" dirty="0"/>
              <a:t>Prevents conflicts</a:t>
            </a:r>
          </a:p>
          <a:p>
            <a:pPr lvl="1"/>
            <a:r>
              <a:rPr lang="en-US" dirty="0"/>
              <a:t>Ensures right people are engaged at the right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7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62C823-3980-948F-25A7-337782C94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43295"/>
            <a:ext cx="10905066" cy="357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58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629B-0EC0-BF45-B2F5-1D2A1636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806D-9FFC-02DC-16AB-CDB44C00D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Stakeholder Management is the </a:t>
            </a:r>
            <a:r>
              <a:rPr lang="en-US" b="1" dirty="0"/>
              <a:t>process of identifying, analyzing, engaging, and managing stakeholders</a:t>
            </a:r>
            <a:r>
              <a:rPr lang="en-US" dirty="0"/>
              <a:t> throughout the project lifecycle to ensure project success.</a:t>
            </a:r>
          </a:p>
          <a:p>
            <a:pPr marL="0" indent="0">
              <a:buNone/>
            </a:pPr>
            <a:r>
              <a:rPr lang="en-US" b="1" dirty="0"/>
              <a:t>Basic Concepts of Stakeholder Management</a:t>
            </a:r>
          </a:p>
          <a:p>
            <a:pPr marL="0" indent="0">
              <a:buNone/>
            </a:pPr>
            <a:r>
              <a:rPr lang="en-US" b="1" dirty="0"/>
              <a:t>Stakeholder Identification</a:t>
            </a:r>
          </a:p>
          <a:p>
            <a:pPr lvl="1"/>
            <a:r>
              <a:rPr lang="en-US" dirty="0"/>
              <a:t>Identify all stakeholders early.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During requirement gathering for an ERP system:</a:t>
            </a:r>
          </a:p>
          <a:p>
            <a:pPr lvl="1"/>
            <a:r>
              <a:rPr lang="en-US" dirty="0"/>
              <a:t>Finance team</a:t>
            </a:r>
          </a:p>
          <a:p>
            <a:pPr lvl="1"/>
            <a:r>
              <a:rPr lang="en-US" dirty="0"/>
              <a:t>HR team</a:t>
            </a:r>
          </a:p>
          <a:p>
            <a:pPr lvl="1"/>
            <a:r>
              <a:rPr lang="en-US" dirty="0"/>
              <a:t>IT admin</a:t>
            </a:r>
          </a:p>
          <a:p>
            <a:pPr lvl="1"/>
            <a:r>
              <a:rPr lang="en-US" dirty="0"/>
              <a:t>CEO (final approval)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4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336F-9A6D-F128-E758-DB1984FF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38933-4553-1140-9846-7B45EA7A8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Stakeholder Analysis</a:t>
            </a:r>
          </a:p>
          <a:p>
            <a:r>
              <a:rPr lang="en-US" dirty="0"/>
              <a:t>Understand:</a:t>
            </a:r>
          </a:p>
          <a:p>
            <a:pPr lvl="1"/>
            <a:r>
              <a:rPr lang="en-US" dirty="0"/>
              <a:t>Interest level</a:t>
            </a:r>
          </a:p>
          <a:p>
            <a:pPr lvl="1"/>
            <a:r>
              <a:rPr lang="en-US" dirty="0"/>
              <a:t>Power / influence</a:t>
            </a:r>
          </a:p>
          <a:p>
            <a:pPr lvl="1"/>
            <a:r>
              <a:rPr lang="en-US" dirty="0"/>
              <a:t>Expectations</a:t>
            </a:r>
          </a:p>
          <a:p>
            <a:r>
              <a:rPr lang="en-US" b="1" dirty="0"/>
              <a:t>Tools Used:</a:t>
            </a:r>
            <a:endParaRPr lang="en-US" dirty="0"/>
          </a:p>
          <a:p>
            <a:pPr lvl="1"/>
            <a:r>
              <a:rPr lang="en-US" dirty="0"/>
              <a:t>Power–Interest Grid</a:t>
            </a:r>
          </a:p>
          <a:p>
            <a:pPr lvl="1"/>
            <a:r>
              <a:rPr lang="en-US" dirty="0"/>
              <a:t>Stakeholder Register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94E63-6132-1738-3CEB-C64605F7C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593" y="1825625"/>
            <a:ext cx="6362700" cy="330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8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062C-C2B9-F957-C2D0-BDC26FCA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– Interest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B9358-1914-7B9A-5251-955CDA591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Power–Interest Grid</a:t>
            </a:r>
            <a:r>
              <a:rPr lang="en-US" dirty="0"/>
              <a:t> is a </a:t>
            </a:r>
            <a:r>
              <a:rPr lang="en-US" b="1" dirty="0"/>
              <a:t>stakeholder analysis tool</a:t>
            </a:r>
            <a:r>
              <a:rPr lang="en-US" dirty="0"/>
              <a:t> used to classify stakeholders based on:</a:t>
            </a:r>
          </a:p>
          <a:p>
            <a:pPr lvl="1"/>
            <a:r>
              <a:rPr lang="en-US" b="1" dirty="0"/>
              <a:t>Power</a:t>
            </a:r>
            <a:r>
              <a:rPr lang="en-US" dirty="0"/>
              <a:t> → ability to influence project decisions</a:t>
            </a:r>
          </a:p>
          <a:p>
            <a:pPr lvl="1"/>
            <a:r>
              <a:rPr lang="en-US" b="1" dirty="0"/>
              <a:t>Interest</a:t>
            </a:r>
            <a:r>
              <a:rPr lang="en-US" dirty="0"/>
              <a:t> → level of concern or involvement in the project</a:t>
            </a:r>
          </a:p>
          <a:p>
            <a:r>
              <a:rPr lang="en-US" dirty="0"/>
              <a:t>It helps the project manager decide </a:t>
            </a:r>
            <a:r>
              <a:rPr lang="en-US" b="1" dirty="0"/>
              <a:t>how to engage and communicate</a:t>
            </a:r>
            <a:r>
              <a:rPr lang="en-US" dirty="0"/>
              <a:t> with each stakeholder.</a:t>
            </a:r>
          </a:p>
          <a:p>
            <a:pPr marL="0" indent="0">
              <a:buNone/>
            </a:pPr>
            <a:r>
              <a:rPr lang="en-US" b="1" dirty="0"/>
              <a:t>Components of Power–Interest Grid</a:t>
            </a:r>
          </a:p>
          <a:p>
            <a:r>
              <a:rPr lang="en-US" b="1" dirty="0"/>
              <a:t>Power</a:t>
            </a:r>
          </a:p>
          <a:p>
            <a:pPr lvl="1"/>
            <a:r>
              <a:rPr lang="en-US" dirty="0"/>
              <a:t>Authority to influence project outcomes</a:t>
            </a:r>
          </a:p>
          <a:p>
            <a:pPr lvl="1"/>
            <a:r>
              <a:rPr lang="en-US" dirty="0"/>
              <a:t>Control over budget, approvals, or resources</a:t>
            </a:r>
          </a:p>
          <a:p>
            <a:r>
              <a:rPr lang="en-US" b="1" dirty="0"/>
              <a:t>IT Example:</a:t>
            </a:r>
            <a:br>
              <a:rPr lang="en-US" dirty="0"/>
            </a:br>
            <a:r>
              <a:rPr lang="en-US" dirty="0"/>
              <a:t>	Client Sponsor who approves funding → High Power</a:t>
            </a:r>
          </a:p>
          <a:p>
            <a:r>
              <a:rPr lang="en-US" b="1" dirty="0"/>
              <a:t> Interest</a:t>
            </a:r>
          </a:p>
          <a:p>
            <a:pPr lvl="1"/>
            <a:r>
              <a:rPr lang="en-US" dirty="0"/>
              <a:t>Level of involvement or concern about project results</a:t>
            </a:r>
          </a:p>
          <a:p>
            <a:r>
              <a:rPr lang="en-US" b="1" dirty="0"/>
              <a:t>IT Example:</a:t>
            </a:r>
            <a:br>
              <a:rPr lang="en-US" dirty="0"/>
            </a:br>
            <a:r>
              <a:rPr lang="en-US" dirty="0"/>
              <a:t>	End users who will use the software daily → High Interest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993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7A9D-7142-2B09-41F6-2625B6BE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– Interest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B06D4-341C-9CC3-D036-551A4F240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E5D8B-BCE3-55F3-7160-D5D757440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32" y="1905000"/>
            <a:ext cx="7105650" cy="4206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FBB0D-E1DB-7CFC-FA23-02BF9D38E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36" y="1992086"/>
            <a:ext cx="4743450" cy="411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77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3B311-DD8C-0807-F614-01929EDD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5434228"/>
            <a:ext cx="10640754" cy="7758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Power – Interest Grid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2" y="170309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D1AE6-1BA6-0CBF-7683-A9C12B9A4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048" y="733650"/>
            <a:ext cx="10555905" cy="300843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4" y="4560733"/>
            <a:ext cx="3061445" cy="2297266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9940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0E551-54BF-1B79-6EE3-F4EE5CE9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88EE-680C-31CC-2BFA-F36B1067B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Stakeholder Engagement</a:t>
            </a:r>
          </a:p>
          <a:p>
            <a:r>
              <a:rPr lang="en-US" dirty="0"/>
              <a:t>Actively involve stakeholders at the right time.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Weekly sprint review with client</a:t>
            </a:r>
          </a:p>
          <a:p>
            <a:pPr lvl="1"/>
            <a:r>
              <a:rPr lang="en-US" dirty="0"/>
              <a:t>Demo to users before UAT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5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4C94-033B-4A33-0ACE-E2E6092B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00225-323C-FE68-E28D-617694329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Right Team Composition</a:t>
            </a:r>
          </a:p>
          <a:p>
            <a:r>
              <a:rPr lang="en-US" dirty="0"/>
              <a:t>Selecting the </a:t>
            </a:r>
            <a:r>
              <a:rPr lang="en-US" b="1" dirty="0"/>
              <a:t>right mix of skills, experience, and roles</a:t>
            </a:r>
            <a:r>
              <a:rPr lang="en-US" dirty="0"/>
              <a:t> required for the project.</a:t>
            </a:r>
          </a:p>
          <a:p>
            <a:r>
              <a:rPr lang="en-US" b="1" dirty="0"/>
              <a:t>Importance</a:t>
            </a:r>
          </a:p>
          <a:p>
            <a:pPr lvl="1"/>
            <a:r>
              <a:rPr lang="en-US" dirty="0"/>
              <a:t>Avoid skill gaps</a:t>
            </a:r>
          </a:p>
          <a:p>
            <a:pPr lvl="1"/>
            <a:r>
              <a:rPr lang="en-US" dirty="0"/>
              <a:t>Reduce rework</a:t>
            </a:r>
          </a:p>
          <a:p>
            <a:pPr lvl="1"/>
            <a:r>
              <a:rPr lang="en-US" dirty="0"/>
              <a:t>Faster delivery</a:t>
            </a:r>
          </a:p>
          <a:p>
            <a:r>
              <a:rPr lang="en-US" b="1" dirty="0"/>
              <a:t>IT Company Example</a:t>
            </a:r>
          </a:p>
          <a:p>
            <a:r>
              <a:rPr lang="en-US" dirty="0"/>
              <a:t>For a </a:t>
            </a:r>
            <a:r>
              <a:rPr lang="en-US" b="1" dirty="0"/>
              <a:t>mobile app development project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Frontend developer (React Native)</a:t>
            </a:r>
          </a:p>
          <a:p>
            <a:pPr lvl="1"/>
            <a:r>
              <a:rPr lang="en-US" dirty="0"/>
              <a:t>Backend developer (Node.js)</a:t>
            </a:r>
          </a:p>
          <a:p>
            <a:pPr lvl="1"/>
            <a:r>
              <a:rPr lang="en-US" dirty="0"/>
              <a:t>QA tester</a:t>
            </a:r>
          </a:p>
          <a:p>
            <a:pPr lvl="1"/>
            <a:r>
              <a:rPr lang="en-US" dirty="0"/>
              <a:t>UI/UX designer</a:t>
            </a:r>
          </a:p>
          <a:p>
            <a:pPr lvl="1"/>
            <a:r>
              <a:rPr lang="en-US" dirty="0"/>
              <a:t>DevOps engineer</a:t>
            </a:r>
          </a:p>
          <a:p>
            <a:pPr lvl="1"/>
            <a:r>
              <a:rPr lang="en-US" dirty="0"/>
              <a:t>Project Manager</a:t>
            </a:r>
          </a:p>
          <a:p>
            <a:pPr lvl="1"/>
            <a:r>
              <a:rPr lang="en-US" dirty="0"/>
              <a:t>Wrong composition → delays, bugs, unhappy client.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41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40B7-F106-D643-1FED-DBB6D4AD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1E161-3911-72D2-6D0A-F63DAC208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Defining Clear Roles and Responsibilities</a:t>
            </a:r>
          </a:p>
          <a:p>
            <a:pPr lvl="1"/>
            <a:r>
              <a:rPr lang="en-US" dirty="0"/>
              <a:t>Clearly defining </a:t>
            </a:r>
            <a:r>
              <a:rPr lang="en-US" b="1" dirty="0"/>
              <a:t>who does what</a:t>
            </a:r>
            <a:r>
              <a:rPr lang="en-US" dirty="0"/>
              <a:t>, </a:t>
            </a:r>
            <a:r>
              <a:rPr lang="en-US" b="1" dirty="0"/>
              <a:t>who decides</a:t>
            </a:r>
            <a:r>
              <a:rPr lang="en-US" dirty="0"/>
              <a:t>, and </a:t>
            </a:r>
            <a:r>
              <a:rPr lang="en-US" b="1" dirty="0"/>
              <a:t>who is accountable</a:t>
            </a:r>
            <a:r>
              <a:rPr lang="en-US" dirty="0"/>
              <a:t>.</a:t>
            </a:r>
          </a:p>
          <a:p>
            <a:r>
              <a:rPr lang="en-US" b="1" dirty="0"/>
              <a:t>Tool Used</a:t>
            </a:r>
          </a:p>
          <a:p>
            <a:r>
              <a:rPr lang="en-US" b="1" dirty="0"/>
              <a:t>RACI Matrix</a:t>
            </a:r>
            <a:endParaRPr lang="en-US" dirty="0"/>
          </a:p>
          <a:p>
            <a:pPr lvl="1"/>
            <a:r>
              <a:rPr lang="en-US" dirty="0"/>
              <a:t>R – Responsible</a:t>
            </a:r>
          </a:p>
          <a:p>
            <a:pPr lvl="1"/>
            <a:r>
              <a:rPr lang="en-US" dirty="0"/>
              <a:t>A – Accountable</a:t>
            </a:r>
          </a:p>
          <a:p>
            <a:pPr lvl="1"/>
            <a:r>
              <a:rPr lang="en-US" dirty="0"/>
              <a:t>C – Consulted</a:t>
            </a:r>
          </a:p>
          <a:p>
            <a:pPr lvl="1"/>
            <a:r>
              <a:rPr lang="en-US" dirty="0"/>
              <a:t>I – Informed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dirty="0"/>
              <a:t>Avoid confusion</a:t>
            </a:r>
          </a:p>
          <a:p>
            <a:pPr lvl="1"/>
            <a:r>
              <a:rPr lang="en-US" dirty="0"/>
              <a:t>Prevent work duplication</a:t>
            </a:r>
          </a:p>
          <a:p>
            <a:pPr lvl="1"/>
            <a:r>
              <a:rPr lang="en-US" dirty="0"/>
              <a:t>Faster decision-making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4B89A-3927-DD7A-F9E9-01CE29005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7" y="3259591"/>
            <a:ext cx="717232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1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5517-45F3-EAE8-AE20-8DBBBCBB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349BC-EDC3-D2D3-9D2D-45E9009EA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RACI Matrix</a:t>
            </a:r>
            <a:r>
              <a:rPr lang="en-US" dirty="0"/>
              <a:t> is a </a:t>
            </a:r>
            <a:r>
              <a:rPr lang="en-US" b="1" dirty="0"/>
              <a:t>roles and responsibilities assignment tool</a:t>
            </a:r>
            <a:r>
              <a:rPr lang="en-US" dirty="0"/>
              <a:t> that clearly defines </a:t>
            </a:r>
            <a:r>
              <a:rPr lang="en-US" b="1" dirty="0"/>
              <a:t>who is responsible, accountable, consulted, and informed</a:t>
            </a:r>
            <a:r>
              <a:rPr lang="en-US" dirty="0"/>
              <a:t> for each project activity or deliverable.</a:t>
            </a:r>
          </a:p>
          <a:p>
            <a:r>
              <a:rPr lang="en-US" b="1" dirty="0"/>
              <a:t>RACI stands for:</a:t>
            </a:r>
          </a:p>
          <a:p>
            <a:pPr lvl="1"/>
            <a:r>
              <a:rPr lang="en-US" b="1" dirty="0"/>
              <a:t>R – Responsible:</a:t>
            </a:r>
            <a:r>
              <a:rPr lang="en-US" dirty="0"/>
              <a:t> Person who actually does the work</a:t>
            </a:r>
          </a:p>
          <a:p>
            <a:pPr lvl="1"/>
            <a:r>
              <a:rPr lang="en-US" b="1" dirty="0"/>
              <a:t>A – Accountable:</a:t>
            </a:r>
            <a:r>
              <a:rPr lang="en-US" dirty="0"/>
              <a:t> Person who owns the task and gives final approval</a:t>
            </a:r>
          </a:p>
          <a:p>
            <a:pPr lvl="1"/>
            <a:r>
              <a:rPr lang="en-US" b="1" dirty="0"/>
              <a:t>C – Consulted:</a:t>
            </a:r>
            <a:r>
              <a:rPr lang="en-US" dirty="0"/>
              <a:t> People who provide inputs or expertise</a:t>
            </a:r>
          </a:p>
          <a:p>
            <a:pPr lvl="1"/>
            <a:r>
              <a:rPr lang="en-US" b="1" dirty="0"/>
              <a:t>I – Informed:</a:t>
            </a:r>
            <a:r>
              <a:rPr lang="en-US" dirty="0"/>
              <a:t> People who need updates but don’t work on it</a:t>
            </a:r>
          </a:p>
          <a:p>
            <a:r>
              <a:rPr lang="en-US" b="1" dirty="0"/>
              <a:t>Rule:</a:t>
            </a:r>
            <a:r>
              <a:rPr lang="en-US" dirty="0"/>
              <a:t> Every task should have </a:t>
            </a:r>
            <a:r>
              <a:rPr lang="en-US" b="1" dirty="0"/>
              <a:t>only one Accountable (A)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78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B20F-97F6-BD9F-6BE9-1DBF21B2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DDA3-FBC4-07FD-F0EC-0C92F8131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Avoids Confusion</a:t>
            </a:r>
          </a:p>
          <a:p>
            <a:pPr lvl="1"/>
            <a:r>
              <a:rPr lang="en-US" dirty="0"/>
              <a:t>Prevents situations like </a:t>
            </a:r>
            <a:r>
              <a:rPr lang="en-US" i="1" dirty="0"/>
              <a:t>“I thought someone else was doing it.”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Clear Ownership</a:t>
            </a:r>
          </a:p>
          <a:p>
            <a:pPr lvl="1"/>
            <a:r>
              <a:rPr lang="en-US" dirty="0"/>
              <a:t>Everyone knows their role and responsibility.</a:t>
            </a:r>
          </a:p>
          <a:p>
            <a:pPr marL="0" indent="0">
              <a:buNone/>
            </a:pPr>
            <a:r>
              <a:rPr lang="en-US" b="1" dirty="0"/>
              <a:t>Faster Decision-Making</a:t>
            </a:r>
          </a:p>
          <a:p>
            <a:pPr lvl="1"/>
            <a:r>
              <a:rPr lang="en-US" dirty="0"/>
              <a:t>No delays due to unclear authority.</a:t>
            </a:r>
          </a:p>
          <a:p>
            <a:pPr marL="0" indent="0">
              <a:buNone/>
            </a:pPr>
            <a:r>
              <a:rPr lang="en-US" b="1" dirty="0"/>
              <a:t>Improves Communication</a:t>
            </a:r>
          </a:p>
          <a:p>
            <a:pPr lvl="1"/>
            <a:r>
              <a:rPr lang="en-US" dirty="0"/>
              <a:t>Right people are consulted and informed.</a:t>
            </a:r>
          </a:p>
          <a:p>
            <a:pPr marL="0" indent="0">
              <a:buNone/>
            </a:pPr>
            <a:r>
              <a:rPr lang="en-US" b="1" dirty="0"/>
              <a:t>Reduces Conflict</a:t>
            </a:r>
          </a:p>
          <a:p>
            <a:pPr lvl="1"/>
            <a:r>
              <a:rPr lang="en-US" dirty="0"/>
              <a:t>Eliminates overlap and blame in teams.</a:t>
            </a:r>
          </a:p>
          <a:p>
            <a:pPr marL="0" indent="0">
              <a:buNone/>
            </a:pPr>
            <a:r>
              <a:rPr lang="en-US" b="1" dirty="0"/>
              <a:t>When to Use RACI Matrix</a:t>
            </a:r>
          </a:p>
          <a:p>
            <a:pPr lvl="1"/>
            <a:r>
              <a:rPr lang="en-US" dirty="0"/>
              <a:t>Large software projects</a:t>
            </a:r>
          </a:p>
          <a:p>
            <a:pPr lvl="1"/>
            <a:r>
              <a:rPr lang="en-US" dirty="0"/>
              <a:t>Cross-functional teams</a:t>
            </a:r>
          </a:p>
          <a:p>
            <a:pPr lvl="1"/>
            <a:r>
              <a:rPr lang="en-US" dirty="0"/>
              <a:t>Multiple stakeholders</a:t>
            </a:r>
          </a:p>
          <a:p>
            <a:pPr lvl="1"/>
            <a:r>
              <a:rPr lang="en-US" dirty="0"/>
              <a:t>Outsourced or distributed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52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000C8-E0F0-F112-54FA-77920710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RACI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6B7E5-E7B7-FA9B-E165-E6AF471C1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464021"/>
            <a:ext cx="7347537" cy="393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90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6C04-2E34-825C-A95A-399E3590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067DF-3A19-FD75-6B92-BE70B07D6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Setting Expectations</a:t>
            </a:r>
          </a:p>
          <a:p>
            <a:pPr lvl="1"/>
            <a:r>
              <a:rPr lang="en-US" dirty="0"/>
              <a:t>Clearly communicating </a:t>
            </a:r>
            <a:r>
              <a:rPr lang="en-US" b="1" dirty="0"/>
              <a:t>deliverables, timelines, quality standards, and constraints</a:t>
            </a:r>
            <a:r>
              <a:rPr lang="en-US" dirty="0"/>
              <a:t>.</a:t>
            </a:r>
          </a:p>
          <a:p>
            <a:r>
              <a:rPr lang="en-US" b="1" dirty="0"/>
              <a:t>Example in IT Project</a:t>
            </a:r>
          </a:p>
          <a:p>
            <a:pPr lvl="1"/>
            <a:r>
              <a:rPr lang="en-US" dirty="0"/>
              <a:t>Delivery date: 30 June</a:t>
            </a:r>
          </a:p>
          <a:p>
            <a:pPr lvl="1"/>
            <a:r>
              <a:rPr lang="en-US" dirty="0"/>
              <a:t>Performance: App should handle 10,000 users</a:t>
            </a:r>
          </a:p>
          <a:p>
            <a:pPr lvl="1"/>
            <a:r>
              <a:rPr lang="en-US" dirty="0"/>
              <a:t>Scope: Payment gateway only (no wallet)</a:t>
            </a:r>
          </a:p>
          <a:p>
            <a:r>
              <a:rPr lang="en-US" b="1" dirty="0"/>
              <a:t>Why Important</a:t>
            </a:r>
          </a:p>
          <a:p>
            <a:pPr lvl="1"/>
            <a:r>
              <a:rPr lang="en-US" dirty="0"/>
              <a:t>Prevents scope creep</a:t>
            </a:r>
          </a:p>
          <a:p>
            <a:pPr lvl="1"/>
            <a:r>
              <a:rPr lang="en-US" dirty="0"/>
              <a:t>Reduces conflicts</a:t>
            </a:r>
          </a:p>
          <a:p>
            <a:pPr lvl="1"/>
            <a:r>
              <a:rPr lang="en-US" dirty="0"/>
              <a:t>Improves trust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58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15FE-1BA7-6353-7E01-F2E5A6CA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D9196-9250-9703-13A4-92903DBD2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Stakeholder expectation management is the process of </a:t>
            </a:r>
            <a:r>
              <a:rPr lang="en-US" b="1" dirty="0"/>
              <a:t>understanding, aligning, communicating, and controlling what stakeholders expect</a:t>
            </a:r>
            <a:r>
              <a:rPr lang="en-US" dirty="0"/>
              <a:t> from a project so that expectations remain </a:t>
            </a:r>
            <a:r>
              <a:rPr lang="en-US" b="1" dirty="0"/>
              <a:t>realistic and achievable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Why Managing Stakeholder Expectations is Important</a:t>
            </a:r>
          </a:p>
          <a:p>
            <a:pPr lvl="1"/>
            <a:r>
              <a:rPr lang="en-US" dirty="0"/>
              <a:t>Prevents dissatisfaction</a:t>
            </a:r>
          </a:p>
          <a:p>
            <a:pPr lvl="1"/>
            <a:r>
              <a:rPr lang="en-US" dirty="0"/>
              <a:t>Reduces scope creep</a:t>
            </a:r>
          </a:p>
          <a:p>
            <a:pPr lvl="1"/>
            <a:r>
              <a:rPr lang="en-US" dirty="0"/>
              <a:t>Avoids conflict</a:t>
            </a:r>
          </a:p>
          <a:p>
            <a:pPr lvl="1"/>
            <a:r>
              <a:rPr lang="en-US" dirty="0"/>
              <a:t>Improves trust and project success</a:t>
            </a:r>
          </a:p>
          <a:p>
            <a:pPr lvl="1"/>
            <a:r>
              <a:rPr lang="en-US" dirty="0"/>
              <a:t>Ensures alignment between business and technical teams</a:t>
            </a:r>
          </a:p>
          <a:p>
            <a:r>
              <a:rPr lang="en-US" dirty="0"/>
              <a:t>Many IT projects fail </a:t>
            </a:r>
            <a:r>
              <a:rPr lang="en-US" b="1" dirty="0"/>
              <a:t>not because of poor coding</a:t>
            </a:r>
            <a:r>
              <a:rPr lang="en-US" dirty="0"/>
              <a:t>, but because expectations were not managed.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965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54A2-146C-FECD-10D2-14790B4D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E6D75-759F-15EF-82DF-F87B5E20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Identify Stakeholders Early</a:t>
            </a:r>
          </a:p>
          <a:p>
            <a:r>
              <a:rPr lang="en-US" b="1" dirty="0"/>
              <a:t>Tool:</a:t>
            </a:r>
            <a:r>
              <a:rPr lang="en-US" dirty="0"/>
              <a:t> Stakeholder Register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pPr lvl="1"/>
            <a:r>
              <a:rPr lang="en-US" dirty="0"/>
              <a:t>List all internal and external stakeholders</a:t>
            </a:r>
          </a:p>
          <a:p>
            <a:pPr lvl="1"/>
            <a:r>
              <a:rPr lang="en-US" dirty="0"/>
              <a:t>Identify decision-makers and influencers</a:t>
            </a:r>
          </a:p>
          <a:p>
            <a:r>
              <a:rPr lang="en-US" b="1" dirty="0"/>
              <a:t>IT Example:</a:t>
            </a:r>
            <a:br>
              <a:rPr lang="en-US" dirty="0"/>
            </a:br>
            <a:r>
              <a:rPr lang="en-US" dirty="0"/>
              <a:t>In a CRM project:</a:t>
            </a:r>
          </a:p>
          <a:p>
            <a:pPr lvl="1"/>
            <a:r>
              <a:rPr lang="en-US" dirty="0"/>
              <a:t>Client Sponsor</a:t>
            </a:r>
          </a:p>
          <a:p>
            <a:pPr lvl="1"/>
            <a:r>
              <a:rPr lang="en-US" dirty="0"/>
              <a:t>Sales Head</a:t>
            </a:r>
          </a:p>
          <a:p>
            <a:pPr lvl="1"/>
            <a:r>
              <a:rPr lang="en-US" dirty="0"/>
              <a:t>End users</a:t>
            </a:r>
          </a:p>
          <a:p>
            <a:pPr lvl="1"/>
            <a:r>
              <a:rPr lang="en-US" dirty="0"/>
              <a:t>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1379647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1159-29A8-37A2-0C81-339A6480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24B6-A590-E7F6-4A05-4756DE8C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CFC85-24C7-261B-1613-5DF373AF7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Understand Stakeholder Needs &amp; Expectations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Interviews</a:t>
            </a:r>
          </a:p>
          <a:p>
            <a:pPr lvl="1"/>
            <a:r>
              <a:rPr lang="en-US" dirty="0"/>
              <a:t>Workshops</a:t>
            </a:r>
          </a:p>
          <a:p>
            <a:pPr lvl="1"/>
            <a:r>
              <a:rPr lang="en-US" dirty="0"/>
              <a:t>Requirement-gathering sessions</a:t>
            </a:r>
          </a:p>
          <a:p>
            <a:r>
              <a:rPr lang="en-US" b="1" dirty="0"/>
              <a:t>What to Capture:</a:t>
            </a:r>
            <a:endParaRPr lang="en-US" dirty="0"/>
          </a:p>
          <a:p>
            <a:pPr lvl="1"/>
            <a:r>
              <a:rPr lang="en-US" dirty="0"/>
              <a:t>Deliverables</a:t>
            </a:r>
          </a:p>
          <a:p>
            <a:pPr lvl="1"/>
            <a:r>
              <a:rPr lang="en-US" dirty="0"/>
              <a:t>Timelines</a:t>
            </a:r>
          </a:p>
          <a:p>
            <a:pPr lvl="1"/>
            <a:r>
              <a:rPr lang="en-US" dirty="0"/>
              <a:t>Quality standards</a:t>
            </a:r>
          </a:p>
          <a:p>
            <a:pPr lvl="1"/>
            <a:r>
              <a:rPr lang="en-US" dirty="0"/>
              <a:t>Constraints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Client expects:</a:t>
            </a:r>
          </a:p>
          <a:p>
            <a:pPr lvl="1"/>
            <a:r>
              <a:rPr lang="en-US" dirty="0"/>
              <a:t>System live in 3 months</a:t>
            </a:r>
          </a:p>
          <a:p>
            <a:pPr lvl="1"/>
            <a:r>
              <a:rPr lang="en-US" dirty="0"/>
              <a:t>Mobile-friendly UI</a:t>
            </a:r>
          </a:p>
          <a:p>
            <a:pPr lvl="1"/>
            <a:r>
              <a:rPr lang="en-US" dirty="0"/>
              <a:t>99.9% uptime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56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A3209-F407-2B40-BBB7-7EAC84445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58849-8E37-6D0C-D706-CBA9C68A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84F88-27A5-1DF7-DB8C-A6654C83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Analyze Stakeholder Power &amp; Interest</a:t>
            </a:r>
          </a:p>
          <a:p>
            <a:r>
              <a:rPr lang="en-US" b="1" dirty="0"/>
              <a:t>Tool:</a:t>
            </a:r>
            <a:r>
              <a:rPr lang="en-US" dirty="0"/>
              <a:t> Power–Interest Grid</a:t>
            </a:r>
          </a:p>
          <a:p>
            <a:r>
              <a:rPr lang="en-US" b="1" dirty="0"/>
              <a:t>Purpose:</a:t>
            </a:r>
            <a:endParaRPr lang="en-US" dirty="0"/>
          </a:p>
          <a:p>
            <a:pPr lvl="1"/>
            <a:r>
              <a:rPr lang="en-US" dirty="0"/>
              <a:t>Identify whose expectations need priority</a:t>
            </a:r>
          </a:p>
          <a:p>
            <a:pPr lvl="1"/>
            <a:r>
              <a:rPr lang="en-US" dirty="0"/>
              <a:t>Decide level of engagement</a:t>
            </a:r>
          </a:p>
          <a:p>
            <a:r>
              <a:rPr lang="en-US" b="1" dirty="0"/>
              <a:t>IT Example:</a:t>
            </a:r>
            <a:endParaRPr lang="en-US" dirty="0"/>
          </a:p>
          <a:p>
            <a:pPr lvl="1"/>
            <a:r>
              <a:rPr lang="en-US" dirty="0"/>
              <a:t>Product Owner → High power, high interest</a:t>
            </a:r>
          </a:p>
          <a:p>
            <a:pPr lvl="1"/>
            <a:r>
              <a:rPr lang="en-US" dirty="0"/>
              <a:t>End users → Low power, high interest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29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4AAA2-0CC6-9B01-8053-F9C2ED98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CC1A-B5C0-DD94-DFF5-65A33FA1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95381-8732-9EF6-7CD8-7EBFBD86A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Define Clear Scope &amp; Boundaries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Project Charter</a:t>
            </a:r>
          </a:p>
          <a:p>
            <a:pPr lvl="1"/>
            <a:r>
              <a:rPr lang="en-US" dirty="0"/>
              <a:t>Scope Statement</a:t>
            </a:r>
          </a:p>
          <a:p>
            <a:pPr lvl="1"/>
            <a:r>
              <a:rPr lang="en-US" dirty="0"/>
              <a:t>Product Backlog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pPr lvl="1"/>
            <a:r>
              <a:rPr lang="en-US" dirty="0"/>
              <a:t>Clearly document what is included and excluded</a:t>
            </a:r>
          </a:p>
          <a:p>
            <a:pPr lvl="1"/>
            <a:r>
              <a:rPr lang="en-US" dirty="0"/>
              <a:t>Get stakeholder sign-off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Payment gateway integration included</a:t>
            </a:r>
            <a:br>
              <a:rPr lang="en-US" dirty="0"/>
            </a:br>
            <a:r>
              <a:rPr lang="en-US" dirty="0"/>
              <a:t>	Wallet feature excluded (future phase)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028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6876-C365-DFA1-B356-DE65808A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6849-E85C-03CC-C324-675866C3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F873-FC97-F66F-5191-94EE92133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Set Realistic Timelines &amp; Deliverables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Work Breakdown Structure (WBS)</a:t>
            </a:r>
          </a:p>
          <a:p>
            <a:pPr lvl="1"/>
            <a:r>
              <a:rPr lang="en-US" dirty="0"/>
              <a:t>Project Schedule (Gantt Chart)</a:t>
            </a:r>
          </a:p>
          <a:p>
            <a:pPr lvl="1"/>
            <a:r>
              <a:rPr lang="en-US" dirty="0"/>
              <a:t>Sprint plan (Agile)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Instead of “Full app in 2 months” →</a:t>
            </a:r>
            <a:br>
              <a:rPr lang="en-US" dirty="0"/>
            </a:br>
            <a:r>
              <a:rPr lang="en-US" dirty="0"/>
              <a:t>Deliver:</a:t>
            </a:r>
          </a:p>
          <a:p>
            <a:pPr lvl="1"/>
            <a:r>
              <a:rPr lang="en-US" dirty="0"/>
              <a:t>Login module in Sprint 1</a:t>
            </a:r>
          </a:p>
          <a:p>
            <a:pPr lvl="1"/>
            <a:r>
              <a:rPr lang="en-US" dirty="0"/>
              <a:t>Payments in Sprint 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954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9F24-EC6B-F21A-FA4A-80BB897D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D2A2-10F5-47F5-A093-7D4D29A1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A8CE-BDD5-A04D-1517-7AD97749E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Define Roles &amp; Responsibilities</a:t>
            </a:r>
          </a:p>
          <a:p>
            <a:r>
              <a:rPr lang="en-US" b="1" dirty="0"/>
              <a:t>Tool:</a:t>
            </a:r>
            <a:r>
              <a:rPr lang="en-US" dirty="0"/>
              <a:t> RACI Matrix</a:t>
            </a:r>
          </a:p>
          <a:p>
            <a:r>
              <a:rPr lang="en-US" b="1" dirty="0"/>
              <a:t>Why Important:</a:t>
            </a:r>
            <a:endParaRPr lang="en-US" dirty="0"/>
          </a:p>
          <a:p>
            <a:pPr lvl="1"/>
            <a:r>
              <a:rPr lang="en-US" dirty="0"/>
              <a:t>Avoids confusion about ownership</a:t>
            </a:r>
          </a:p>
          <a:p>
            <a:pPr lvl="1"/>
            <a:r>
              <a:rPr lang="en-US" dirty="0"/>
              <a:t>Clarifies decision authority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Feature priority → Product Owner</a:t>
            </a:r>
          </a:p>
          <a:p>
            <a:r>
              <a:rPr lang="en-US" dirty="0"/>
              <a:t>Technical design → Tech Lead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27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6780-8BA2-458D-06E9-B984A100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507A-D8D0-9B6D-4644-410A2496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4DAF0-4ACC-7CC7-51C3-8E78E98D3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a Communication Plan</a:t>
            </a:r>
          </a:p>
          <a:p>
            <a:r>
              <a:rPr lang="en-US" b="1" dirty="0"/>
              <a:t>Tool:</a:t>
            </a:r>
            <a:r>
              <a:rPr lang="en-US" dirty="0"/>
              <a:t> Communication Management Plan</a:t>
            </a:r>
          </a:p>
          <a:p>
            <a:r>
              <a:rPr lang="en-US" b="1" dirty="0"/>
              <a:t>Includes:</a:t>
            </a:r>
            <a:endParaRPr lang="en-US" dirty="0"/>
          </a:p>
          <a:p>
            <a:pPr lvl="1"/>
            <a:r>
              <a:rPr lang="en-US" dirty="0"/>
              <a:t>What to communicate</a:t>
            </a:r>
          </a:p>
          <a:p>
            <a:pPr lvl="1"/>
            <a:r>
              <a:rPr lang="en-US" dirty="0"/>
              <a:t>To whom</a:t>
            </a:r>
          </a:p>
          <a:p>
            <a:pPr lvl="1"/>
            <a:r>
              <a:rPr lang="en-US" dirty="0"/>
              <a:t>How often</a:t>
            </a:r>
          </a:p>
          <a:p>
            <a:pPr lvl="1"/>
            <a:r>
              <a:rPr lang="en-US" dirty="0"/>
              <a:t>Through which channel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78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D619-22C9-5A5E-5BFF-E35F09C6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D728-AC66-C270-5973-10BF959B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1675C-EA77-9954-661A-CE92EF927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Manage Changes Effectively</a:t>
            </a:r>
          </a:p>
          <a:p>
            <a:r>
              <a:rPr lang="en-US" b="1" dirty="0"/>
              <a:t>Tool:</a:t>
            </a:r>
            <a:r>
              <a:rPr lang="en-US" dirty="0"/>
              <a:t> Change Control Process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pPr lvl="1"/>
            <a:r>
              <a:rPr lang="en-US" dirty="0"/>
              <a:t>Document change requests</a:t>
            </a:r>
          </a:p>
          <a:p>
            <a:pPr lvl="1"/>
            <a:r>
              <a:rPr lang="en-US" dirty="0"/>
              <a:t>Analyze impact on cost/time</a:t>
            </a:r>
          </a:p>
          <a:p>
            <a:pPr lvl="1"/>
            <a:r>
              <a:rPr lang="en-US" dirty="0"/>
              <a:t>Get approval before implementation</a:t>
            </a:r>
          </a:p>
          <a:p>
            <a:r>
              <a:rPr lang="en-US" b="1" dirty="0"/>
              <a:t>IT Example:</a:t>
            </a:r>
            <a:br>
              <a:rPr lang="en-US" dirty="0"/>
            </a:br>
            <a:r>
              <a:rPr lang="en-US" dirty="0"/>
              <a:t>	Client requests new reporting dashboard →</a:t>
            </a:r>
            <a:br>
              <a:rPr lang="en-US" dirty="0"/>
            </a:br>
            <a:r>
              <a:rPr lang="en-US" dirty="0"/>
              <a:t>	Impact analyzed → Timeline extended → Approved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43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DD669-8ED8-D419-3E19-F075D916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C5AF-1D19-32EA-3C57-07F66EBB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59222-2371-F9C1-A3E0-5D197064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Manage Changes Effectively</a:t>
            </a:r>
          </a:p>
          <a:p>
            <a:r>
              <a:rPr lang="en-US" b="1" dirty="0"/>
              <a:t>Tool:</a:t>
            </a:r>
            <a:r>
              <a:rPr lang="en-US" dirty="0"/>
              <a:t> Change Control Process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pPr lvl="1"/>
            <a:r>
              <a:rPr lang="en-US" dirty="0"/>
              <a:t>Document change requests</a:t>
            </a:r>
          </a:p>
          <a:p>
            <a:pPr lvl="1"/>
            <a:r>
              <a:rPr lang="en-US" dirty="0"/>
              <a:t>Analyze impact on cost/time</a:t>
            </a:r>
          </a:p>
          <a:p>
            <a:pPr lvl="1"/>
            <a:r>
              <a:rPr lang="en-US" dirty="0"/>
              <a:t>Get approval before implementation</a:t>
            </a:r>
          </a:p>
          <a:p>
            <a:r>
              <a:rPr lang="en-US" b="1" dirty="0"/>
              <a:t>IT Example:</a:t>
            </a:r>
            <a:br>
              <a:rPr lang="en-US" dirty="0"/>
            </a:br>
            <a:r>
              <a:rPr lang="en-US" dirty="0"/>
              <a:t>	Client requests new reporting dashboard →</a:t>
            </a:r>
            <a:br>
              <a:rPr lang="en-US" dirty="0"/>
            </a:br>
            <a:r>
              <a:rPr lang="en-US" dirty="0"/>
              <a:t>	Impact analyzed → Timeline extended → Approved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271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2D77-1CAD-022D-9A35-588189B4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EFBB-0B22-E531-3A16-807E56CF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F4D4-AC84-0B7D-1364-94E4BE90C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Continuous Engagement &amp; Feedback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Sprint reviews</a:t>
            </a:r>
          </a:p>
          <a:p>
            <a:pPr lvl="1"/>
            <a:r>
              <a:rPr lang="en-US" dirty="0"/>
              <a:t>Demos</a:t>
            </a:r>
          </a:p>
          <a:p>
            <a:pPr lvl="1"/>
            <a:r>
              <a:rPr lang="en-US" dirty="0"/>
              <a:t>Feedback sessions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Bi-weekly demo to client to validate expectations early.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001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5134-E780-DB47-E2B4-0C6B9D02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03DC-F812-0C57-5D83-2C5E1764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Stakeholder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D7446-3E9E-D2C7-E2EF-5E2750C09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Monitor &amp; Adjust Expectations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Status reports</a:t>
            </a:r>
          </a:p>
          <a:p>
            <a:pPr lvl="1"/>
            <a:r>
              <a:rPr lang="en-US" dirty="0"/>
              <a:t>KPIs</a:t>
            </a:r>
          </a:p>
          <a:p>
            <a:pPr lvl="1"/>
            <a:r>
              <a:rPr lang="en-US" dirty="0"/>
              <a:t>Stakeholder feedback surveys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pPr lvl="1"/>
            <a:r>
              <a:rPr lang="en-US" dirty="0"/>
              <a:t>Identify dissatisfaction early</a:t>
            </a:r>
          </a:p>
          <a:p>
            <a:pPr lvl="1"/>
            <a:r>
              <a:rPr lang="en-US" dirty="0"/>
              <a:t>Correct misunderstandings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130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13556-6E7B-9107-83CF-61D7AD95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10AE6-D255-652C-89AC-2041E6A80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Decision Making</a:t>
            </a:r>
          </a:p>
          <a:p>
            <a:pPr lvl="1"/>
            <a:r>
              <a:rPr lang="en-US" dirty="0"/>
              <a:t>The process of choosing the </a:t>
            </a:r>
            <a:r>
              <a:rPr lang="en-US" b="1" dirty="0"/>
              <a:t>best option among alternatives</a:t>
            </a:r>
            <a:r>
              <a:rPr lang="en-US" dirty="0"/>
              <a:t>.</a:t>
            </a:r>
          </a:p>
          <a:p>
            <a:r>
              <a:rPr lang="en-US" b="1" dirty="0"/>
              <a:t>Types in IT Projects</a:t>
            </a:r>
          </a:p>
          <a:p>
            <a:pPr lvl="1"/>
            <a:r>
              <a:rPr lang="en-US" dirty="0"/>
              <a:t>Technical decisions (architecture, tools)</a:t>
            </a:r>
          </a:p>
          <a:p>
            <a:pPr lvl="1"/>
            <a:r>
              <a:rPr lang="en-US" dirty="0"/>
              <a:t>Business decisions (features, priorities)</a:t>
            </a:r>
          </a:p>
          <a:p>
            <a:r>
              <a:rPr lang="en-US" b="1" dirty="0"/>
              <a:t>Decision Authority Example</a:t>
            </a:r>
          </a:p>
          <a:p>
            <a:pPr lvl="1"/>
            <a:r>
              <a:rPr lang="en-US" dirty="0"/>
              <a:t>Architecture → Tech Lead</a:t>
            </a:r>
          </a:p>
          <a:p>
            <a:pPr lvl="1"/>
            <a:r>
              <a:rPr lang="en-US" dirty="0"/>
              <a:t>Budget → Senior Management</a:t>
            </a:r>
          </a:p>
          <a:p>
            <a:pPr lvl="1"/>
            <a:r>
              <a:rPr lang="en-US" dirty="0"/>
              <a:t>Feature priority → Product Owner</a:t>
            </a:r>
          </a:p>
          <a:p>
            <a:r>
              <a:rPr lang="en-US" b="1" dirty="0"/>
              <a:t>Good Practices</a:t>
            </a:r>
          </a:p>
          <a:p>
            <a:pPr lvl="1"/>
            <a:r>
              <a:rPr lang="en-US" dirty="0"/>
              <a:t>Data-driven decisions</a:t>
            </a:r>
          </a:p>
          <a:p>
            <a:pPr lvl="1"/>
            <a:r>
              <a:rPr lang="en-US" dirty="0"/>
              <a:t>Clear escalation path</a:t>
            </a:r>
          </a:p>
          <a:p>
            <a:pPr lvl="1"/>
            <a:r>
              <a:rPr lang="en-US" dirty="0"/>
              <a:t>Stakeholder involvement when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79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9F3EF-A4E3-0FAF-29B6-1A0A6DC8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4BD88-A4FA-A54F-3240-E3F66F794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Coordination &amp; Dependencies</a:t>
            </a:r>
          </a:p>
          <a:p>
            <a:pPr lvl="1"/>
            <a:r>
              <a:rPr lang="en-US" dirty="0"/>
              <a:t>Managing inter-related tasks and teams so work flows smoothly.</a:t>
            </a:r>
          </a:p>
          <a:p>
            <a:r>
              <a:rPr lang="en-US" b="1" dirty="0"/>
              <a:t>Types of Dependencies</a:t>
            </a:r>
          </a:p>
          <a:p>
            <a:pPr lvl="1"/>
            <a:r>
              <a:rPr lang="en-US" dirty="0"/>
              <a:t>Finish-to-start</a:t>
            </a:r>
          </a:p>
          <a:p>
            <a:pPr lvl="1"/>
            <a:r>
              <a:rPr lang="en-US" dirty="0"/>
              <a:t>Start-to-start</a:t>
            </a:r>
          </a:p>
          <a:p>
            <a:r>
              <a:rPr lang="en-US" b="1" dirty="0"/>
              <a:t>IT Example</a:t>
            </a:r>
          </a:p>
          <a:p>
            <a:pPr lvl="1"/>
            <a:r>
              <a:rPr lang="en-US" dirty="0"/>
              <a:t>Backend API must be ready before frontend integration</a:t>
            </a:r>
          </a:p>
          <a:p>
            <a:pPr lvl="1"/>
            <a:r>
              <a:rPr lang="en-US" dirty="0"/>
              <a:t>Database schema approval before development</a:t>
            </a:r>
          </a:p>
          <a:p>
            <a:r>
              <a:rPr lang="en-US" b="1" dirty="0"/>
              <a:t>Why Important</a:t>
            </a:r>
          </a:p>
          <a:p>
            <a:pPr lvl="1"/>
            <a:r>
              <a:rPr lang="en-US" dirty="0"/>
              <a:t>Avoid bottlenecks</a:t>
            </a:r>
          </a:p>
          <a:p>
            <a:pPr lvl="1"/>
            <a:r>
              <a:rPr lang="en-US" dirty="0"/>
              <a:t>Prevent idle resources</a:t>
            </a:r>
          </a:p>
          <a:p>
            <a:pPr lvl="1"/>
            <a:r>
              <a:rPr lang="en-US" dirty="0"/>
              <a:t>Maintain schedule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042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F7F8-7071-B4BA-4766-55B2D787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 of Stakeholder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C5B0-AF83-639D-1DA5-BC5DF3861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Communication Plan</a:t>
            </a:r>
          </a:p>
          <a:p>
            <a:pPr lvl="1"/>
            <a:r>
              <a:rPr lang="en-US" dirty="0"/>
              <a:t>A document that defines </a:t>
            </a:r>
            <a:r>
              <a:rPr lang="en-US" b="1" dirty="0"/>
              <a:t>what, when, how, and to whom</a:t>
            </a:r>
            <a:r>
              <a:rPr lang="en-US" dirty="0"/>
              <a:t> communication will happen.</a:t>
            </a:r>
          </a:p>
          <a:p>
            <a:r>
              <a:rPr lang="en-US" b="1" dirty="0"/>
              <a:t>Elements of Communication Plan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3EDAB0-0F5E-ADC4-F522-AE2E22FE9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3814763"/>
            <a:ext cx="8741229" cy="293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71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36CA-D91C-FC42-BC87-0E2CF2BA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Communication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2DF39-7DBB-B147-9725-72C12B872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Why Critical in IT Projects</a:t>
            </a:r>
          </a:p>
          <a:p>
            <a:pPr lvl="1"/>
            <a:r>
              <a:rPr lang="en-US" dirty="0"/>
              <a:t>Distributed teams</a:t>
            </a:r>
          </a:p>
          <a:p>
            <a:pPr lvl="1"/>
            <a:r>
              <a:rPr lang="en-US" dirty="0"/>
              <a:t>Rapid changes</a:t>
            </a:r>
          </a:p>
          <a:p>
            <a:pPr lvl="1"/>
            <a:r>
              <a:rPr lang="en-US" dirty="0"/>
              <a:t>Complex technical details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dirty="0"/>
              <a:t>Avoids misunderstandings</a:t>
            </a:r>
          </a:p>
          <a:p>
            <a:pPr lvl="1"/>
            <a:r>
              <a:rPr lang="en-US" dirty="0"/>
              <a:t>Ensures transparency</a:t>
            </a:r>
          </a:p>
          <a:p>
            <a:pPr lvl="1"/>
            <a:r>
              <a:rPr lang="en-US" dirty="0"/>
              <a:t>Improves stakeholder satisfaction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Weekly status email to client:</a:t>
            </a:r>
          </a:p>
          <a:p>
            <a:pPr lvl="1"/>
            <a:r>
              <a:rPr lang="en-US" dirty="0"/>
              <a:t>Progress</a:t>
            </a:r>
          </a:p>
          <a:p>
            <a:pPr lvl="1"/>
            <a:r>
              <a:rPr lang="en-US" dirty="0"/>
              <a:t>Risks</a:t>
            </a:r>
          </a:p>
          <a:p>
            <a:pPr lvl="1"/>
            <a:r>
              <a:rPr lang="en-US" dirty="0"/>
              <a:t>Next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188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7887-4561-8891-A254-69FA6C0F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B50C5-2209-1826-FB8B-4D2474D53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systematic process of </a:t>
            </a:r>
            <a:r>
              <a:rPr lang="en-US" b="1" dirty="0"/>
              <a:t>planning, executing, monitoring, and controlling communication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Processes in Communication Management</a:t>
            </a:r>
          </a:p>
          <a:p>
            <a:r>
              <a:rPr lang="en-US" b="1" dirty="0"/>
              <a:t>1. Plan Communications</a:t>
            </a:r>
          </a:p>
          <a:p>
            <a:pPr lvl="1"/>
            <a:r>
              <a:rPr lang="en-US" dirty="0"/>
              <a:t>Identify stakeholder needs and communication methods.</a:t>
            </a:r>
          </a:p>
          <a:p>
            <a:r>
              <a:rPr lang="en-US" b="1" dirty="0"/>
              <a:t>2. Manage Communications</a:t>
            </a:r>
          </a:p>
          <a:p>
            <a:pPr lvl="1"/>
            <a:r>
              <a:rPr lang="en-US" dirty="0"/>
              <a:t>Sharing information, conducting meetings, reporting status.</a:t>
            </a:r>
          </a:p>
          <a:p>
            <a:r>
              <a:rPr lang="en-US" b="1" dirty="0"/>
              <a:t>3. Monitor Communications</a:t>
            </a:r>
          </a:p>
          <a:p>
            <a:pPr lvl="1"/>
            <a:r>
              <a:rPr lang="en-US" dirty="0"/>
              <a:t>Ensure communication is effective and timely.</a:t>
            </a:r>
          </a:p>
          <a:p>
            <a:r>
              <a:rPr lang="en-US" b="1" dirty="0"/>
              <a:t>IT Example</a:t>
            </a:r>
          </a:p>
          <a:p>
            <a:pPr lvl="1"/>
            <a:r>
              <a:rPr lang="en-US" dirty="0"/>
              <a:t>Daily stand-up (team)</a:t>
            </a:r>
          </a:p>
          <a:p>
            <a:pPr lvl="1"/>
            <a:r>
              <a:rPr lang="en-US" dirty="0"/>
              <a:t>Sprint review (client)</a:t>
            </a:r>
          </a:p>
          <a:p>
            <a:pPr lvl="1"/>
            <a:r>
              <a:rPr lang="en-US" dirty="0"/>
              <a:t>Monthly steering committee meeting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652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5DFF-E1F2-585B-F745-7A481E1F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50698-CA58-DF4F-BF69-528585E6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Why Necessary</a:t>
            </a:r>
          </a:p>
          <a:p>
            <a:pPr lvl="1"/>
            <a:r>
              <a:rPr lang="en-US" dirty="0"/>
              <a:t>Projects fail due to poor communication</a:t>
            </a:r>
          </a:p>
          <a:p>
            <a:pPr lvl="1"/>
            <a:r>
              <a:rPr lang="en-US" dirty="0"/>
              <a:t>Stakeholder dissatisfaction leads to rework</a:t>
            </a:r>
          </a:p>
          <a:p>
            <a:pPr lvl="1"/>
            <a:r>
              <a:rPr lang="en-US" dirty="0"/>
              <a:t>Clear communication reduces risks</a:t>
            </a:r>
          </a:p>
          <a:p>
            <a:r>
              <a:rPr lang="en-US" b="1" dirty="0"/>
              <a:t>How to Do It Effectively</a:t>
            </a:r>
          </a:p>
          <a:p>
            <a:pPr lvl="1"/>
            <a:r>
              <a:rPr lang="en-US" dirty="0"/>
              <a:t>Identify stakeholders early</a:t>
            </a:r>
          </a:p>
          <a:p>
            <a:pPr lvl="1"/>
            <a:r>
              <a:rPr lang="en-US" dirty="0"/>
              <a:t>Analyze influence &amp; expectations</a:t>
            </a:r>
          </a:p>
          <a:p>
            <a:pPr lvl="1"/>
            <a:r>
              <a:rPr lang="en-US" dirty="0"/>
              <a:t>Define roles clearly</a:t>
            </a:r>
          </a:p>
          <a:p>
            <a:pPr lvl="1"/>
            <a:r>
              <a:rPr lang="en-US" dirty="0"/>
              <a:t>Build right team</a:t>
            </a:r>
          </a:p>
          <a:p>
            <a:pPr lvl="1"/>
            <a:r>
              <a:rPr lang="en-US" dirty="0"/>
              <a:t>Create communication plan</a:t>
            </a:r>
          </a:p>
          <a:p>
            <a:pPr lvl="1"/>
            <a:r>
              <a:rPr lang="en-US" dirty="0"/>
              <a:t>Maintain continuous engagement</a:t>
            </a:r>
          </a:p>
          <a:p>
            <a:pPr lvl="1"/>
            <a:r>
              <a:rPr lang="en-US" dirty="0"/>
              <a:t>Monitor feedback and adjust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465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2EEB-566F-0C43-F3E3-20607E9B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IT Company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4EF5-869F-78B7-AB28-567C59920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Project:</a:t>
            </a:r>
            <a:r>
              <a:rPr lang="en-US" dirty="0"/>
              <a:t> CRM System Development</a:t>
            </a:r>
            <a:br>
              <a:rPr lang="en-US" dirty="0"/>
            </a:br>
            <a:r>
              <a:rPr lang="en-US" b="1" dirty="0"/>
              <a:t>Issues without Proper Management:</a:t>
            </a:r>
            <a:endParaRPr lang="en-US" dirty="0"/>
          </a:p>
          <a:p>
            <a:pPr lvl="1"/>
            <a:r>
              <a:rPr lang="en-US" dirty="0"/>
              <a:t>Client unhappy due to lack of updates</a:t>
            </a:r>
          </a:p>
          <a:p>
            <a:pPr lvl="1"/>
            <a:r>
              <a:rPr lang="en-US" dirty="0"/>
              <a:t>Developers unclear about requirements</a:t>
            </a:r>
          </a:p>
          <a:p>
            <a:pPr lvl="1"/>
            <a:r>
              <a:rPr lang="en-US" dirty="0"/>
              <a:t>Missed deadlines</a:t>
            </a:r>
          </a:p>
          <a:p>
            <a:r>
              <a:rPr lang="en-US" b="1" dirty="0"/>
              <a:t>With Proper Stakeholder &amp; Communication Management:</a:t>
            </a:r>
            <a:endParaRPr lang="en-US" dirty="0"/>
          </a:p>
          <a:p>
            <a:pPr lvl="1"/>
            <a:r>
              <a:rPr lang="en-US" dirty="0"/>
              <a:t>Weekly demos</a:t>
            </a:r>
          </a:p>
          <a:p>
            <a:pPr lvl="1"/>
            <a:r>
              <a:rPr lang="en-US" dirty="0"/>
              <a:t>Clear ownership</a:t>
            </a:r>
          </a:p>
          <a:p>
            <a:pPr lvl="1"/>
            <a:r>
              <a:rPr lang="en-US" dirty="0"/>
              <a:t>Regular status reports</a:t>
            </a:r>
          </a:p>
          <a:p>
            <a:pPr lvl="1"/>
            <a:r>
              <a:rPr lang="en-US" dirty="0"/>
              <a:t>Timely delivery</a:t>
            </a:r>
          </a:p>
          <a:p>
            <a:pPr lvl="1"/>
            <a:r>
              <a:rPr lang="en-US" dirty="0"/>
              <a:t>High client satisfaction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702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361C-DD32-1EC2-0619-CAF8D110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27DCF-986E-2BE7-6AEF-B9BD9030D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Scope creep</a:t>
            </a:r>
            <a:r>
              <a:rPr lang="en-US" dirty="0"/>
              <a:t> is the </a:t>
            </a:r>
            <a:r>
              <a:rPr lang="en-US" b="1" dirty="0"/>
              <a:t>uncontrolled expansion of project scope</a:t>
            </a:r>
            <a:r>
              <a:rPr lang="en-US" dirty="0"/>
              <a:t> by adding new features, requirements, or work </a:t>
            </a:r>
            <a:r>
              <a:rPr lang="en-US" b="1" dirty="0"/>
              <a:t>without adjusting time, cost, or resources</a:t>
            </a:r>
            <a:r>
              <a:rPr lang="en-US" dirty="0"/>
              <a:t>.</a:t>
            </a:r>
          </a:p>
          <a:p>
            <a:r>
              <a:rPr lang="en-US" dirty="0"/>
              <a:t>Scope creep occurs when extra work is added to a project without proper approval or planning.</a:t>
            </a:r>
          </a:p>
          <a:p>
            <a:r>
              <a:rPr lang="en-US" b="1" dirty="0"/>
              <a:t>Project: E-commerce Website Development</a:t>
            </a:r>
          </a:p>
          <a:p>
            <a:r>
              <a:rPr lang="en-US" b="1" dirty="0"/>
              <a:t>Original Scope:</a:t>
            </a:r>
            <a:endParaRPr lang="en-US" dirty="0"/>
          </a:p>
          <a:p>
            <a:pPr lvl="1"/>
            <a:r>
              <a:rPr lang="en-US" dirty="0"/>
              <a:t>Product listing</a:t>
            </a:r>
          </a:p>
          <a:p>
            <a:pPr lvl="1"/>
            <a:r>
              <a:rPr lang="en-US" dirty="0"/>
              <a:t>Shopping cart</a:t>
            </a:r>
          </a:p>
          <a:p>
            <a:pPr lvl="1"/>
            <a:r>
              <a:rPr lang="en-US" dirty="0"/>
              <a:t>Payment gateway</a:t>
            </a:r>
          </a:p>
          <a:p>
            <a:r>
              <a:rPr lang="en-US" b="1" dirty="0"/>
              <a:t>Scope Creep Examples:</a:t>
            </a:r>
            <a:endParaRPr lang="en-US" dirty="0"/>
          </a:p>
          <a:p>
            <a:pPr lvl="1"/>
            <a:r>
              <a:rPr lang="en-US" dirty="0"/>
              <a:t>Adding product recommendation engine</a:t>
            </a:r>
          </a:p>
          <a:p>
            <a:pPr lvl="1"/>
            <a:r>
              <a:rPr lang="en-US" dirty="0"/>
              <a:t>Multi-language support</a:t>
            </a:r>
          </a:p>
          <a:p>
            <a:pPr lvl="1"/>
            <a:r>
              <a:rPr lang="en-US" dirty="0"/>
              <a:t>Admin analytics dashboard</a:t>
            </a:r>
          </a:p>
          <a:p>
            <a:r>
              <a:rPr lang="en-US" dirty="0"/>
              <a:t>👉 Added </a:t>
            </a:r>
            <a:r>
              <a:rPr lang="en-US" b="1" dirty="0"/>
              <a:t>without changing deadline or budget</a:t>
            </a:r>
            <a:r>
              <a:rPr lang="en-US" dirty="0"/>
              <a:t> = scope creep.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87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35F1-5612-5F08-B260-C38ED968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Creep – Why Important”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4FC9C-E60E-882F-E058-AF228DA0B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Importance in IT Projects</a:t>
            </a:r>
          </a:p>
          <a:p>
            <a:pPr lvl="1"/>
            <a:r>
              <a:rPr lang="en-US" dirty="0"/>
              <a:t>Software projects are highly change-prone</a:t>
            </a:r>
          </a:p>
          <a:p>
            <a:pPr lvl="1"/>
            <a:r>
              <a:rPr lang="en-US" dirty="0"/>
              <a:t>Clients often request new features mid-project</a:t>
            </a:r>
          </a:p>
          <a:p>
            <a:pPr lvl="1"/>
            <a:r>
              <a:rPr lang="en-US" dirty="0"/>
              <a:t>Uncontrolled changes lead to failure</a:t>
            </a:r>
          </a:p>
          <a:p>
            <a:r>
              <a:rPr lang="en-US" b="1" dirty="0"/>
              <a:t>Why Project Managers Care</a:t>
            </a:r>
          </a:p>
          <a:p>
            <a:pPr lvl="1"/>
            <a:r>
              <a:rPr lang="en-US" dirty="0"/>
              <a:t>Affects schedule</a:t>
            </a:r>
          </a:p>
          <a:p>
            <a:pPr lvl="1"/>
            <a:r>
              <a:rPr lang="en-US" dirty="0"/>
              <a:t>Increases cost</a:t>
            </a:r>
          </a:p>
          <a:p>
            <a:pPr lvl="1"/>
            <a:r>
              <a:rPr lang="en-US" dirty="0"/>
              <a:t>Reduces quality</a:t>
            </a:r>
          </a:p>
          <a:p>
            <a:pPr lvl="1"/>
            <a:r>
              <a:rPr lang="en-US" dirty="0"/>
              <a:t>Demotivates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934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257B-4251-304A-1EB1-CD9198FF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5FE6-926C-69FE-0EB4-2BEE6D1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Creep – Benefits!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B5698-16D1-DF82-A87E-AD5508785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⚠️ Scope creep is usually negative, but </a:t>
            </a:r>
            <a:r>
              <a:rPr lang="en-US" b="1" dirty="0"/>
              <a:t>controlled scope changes</a:t>
            </a:r>
            <a:r>
              <a:rPr lang="en-US" dirty="0"/>
              <a:t> can have benefits.</a:t>
            </a:r>
          </a:p>
          <a:p>
            <a:r>
              <a:rPr lang="en-US" b="1" dirty="0"/>
              <a:t>When It Can Be Beneficial</a:t>
            </a:r>
          </a:p>
          <a:p>
            <a:pPr lvl="1"/>
            <a:r>
              <a:rPr lang="en-US" dirty="0"/>
              <a:t>Improves product quality</a:t>
            </a:r>
          </a:p>
          <a:p>
            <a:pPr lvl="1"/>
            <a:r>
              <a:rPr lang="en-US" dirty="0"/>
              <a:t>Adds business value</a:t>
            </a:r>
          </a:p>
          <a:p>
            <a:pPr lvl="1"/>
            <a:r>
              <a:rPr lang="en-US" dirty="0"/>
              <a:t>Adapts to market or regulatory changes</a:t>
            </a:r>
          </a:p>
          <a:p>
            <a:pPr lvl="1"/>
            <a:r>
              <a:rPr lang="en-US" dirty="0"/>
              <a:t>Enhances user satisfaction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Client requests </a:t>
            </a:r>
            <a:r>
              <a:rPr lang="en-US" b="1" dirty="0"/>
              <a:t>security enhancement</a:t>
            </a:r>
            <a:r>
              <a:rPr lang="en-US" dirty="0"/>
              <a:t> due to new compliance rule → beneficial change if managed properly.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942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10D3A-999B-30DB-DF60-55D9032CE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Scope Creep - Challenges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5814BC-7A8E-2BDC-1AFB-CD897E7FAC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31335"/>
              </p:ext>
            </p:extLst>
          </p:nvPr>
        </p:nvGraphicFramePr>
        <p:xfrm>
          <a:off x="4207933" y="1699285"/>
          <a:ext cx="7347538" cy="3460410"/>
        </p:xfrm>
        <a:graphic>
          <a:graphicData uri="http://schemas.openxmlformats.org/drawingml/2006/table">
            <a:tbl>
              <a:tblPr/>
              <a:tblGrid>
                <a:gridCol w="3437104">
                  <a:extLst>
                    <a:ext uri="{9D8B030D-6E8A-4147-A177-3AD203B41FA5}">
                      <a16:colId xmlns:a16="http://schemas.microsoft.com/office/drawing/2014/main" val="3820704161"/>
                    </a:ext>
                  </a:extLst>
                </a:gridCol>
                <a:gridCol w="3910434">
                  <a:extLst>
                    <a:ext uri="{9D8B030D-6E8A-4147-A177-3AD203B41FA5}">
                      <a16:colId xmlns:a16="http://schemas.microsoft.com/office/drawing/2014/main" val="2009235761"/>
                    </a:ext>
                  </a:extLst>
                </a:gridCol>
              </a:tblGrid>
              <a:tr h="5767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Challenge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30829"/>
                  </a:ext>
                </a:extLst>
              </a:tr>
              <a:tr h="5767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Schedule delays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Missed deadlines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814576"/>
                  </a:ext>
                </a:extLst>
              </a:tr>
              <a:tr h="5767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Budget overrun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Increased costs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381623"/>
                  </a:ext>
                </a:extLst>
              </a:tr>
              <a:tr h="5767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Quality issues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Rushed testing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912604"/>
                  </a:ext>
                </a:extLst>
              </a:tr>
              <a:tr h="5767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Team burnout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Low morale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482551"/>
                  </a:ext>
                </a:extLst>
              </a:tr>
              <a:tr h="5767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Client dissatisfaction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 dirty="0">
                          <a:effectLst/>
                          <a:latin typeface="Arial" panose="020B0604020202020204" pitchFamily="34" charset="0"/>
                        </a:rPr>
                        <a:t>Unrealistic expectations</a:t>
                      </a:r>
                    </a:p>
                  </a:txBody>
                  <a:tcPr marL="131076" marR="131076" marT="65538" marB="655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86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2561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583A-B99C-90AC-D107-3C7B3FD9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Scope Creep Good or Bad?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E5CB-B32D-AB17-24DE-DE231661A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Uncontrolled scope creep is bad. Controlled scope change is acceptable.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7BD69-2E38-D143-6FD7-38B9384D4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92" y="2979511"/>
            <a:ext cx="69723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282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11F7-519A-B90F-32F2-D4150530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Scope Creep Happens (IT Context)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21126-5CBA-53C9-9728-E2D73F3C1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Poor requirement analysis</a:t>
            </a:r>
          </a:p>
          <a:p>
            <a:r>
              <a:rPr lang="en-US" dirty="0"/>
              <a:t>Vague scope definition</a:t>
            </a:r>
          </a:p>
          <a:p>
            <a:r>
              <a:rPr lang="en-US" dirty="0"/>
              <a:t>Lack of stakeholder involvement</a:t>
            </a:r>
          </a:p>
          <a:p>
            <a:r>
              <a:rPr lang="en-US" dirty="0"/>
              <a:t>Weak change control</a:t>
            </a:r>
          </a:p>
          <a:p>
            <a:r>
              <a:rPr lang="en-US" dirty="0"/>
              <a:t>“Just one small change” requests</a:t>
            </a:r>
          </a:p>
          <a:p>
            <a:r>
              <a:rPr lang="en-US" dirty="0"/>
              <a:t>Agile misunderstanding (“Agile means unlimited changes”)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370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7A1E1-07CC-32B6-283D-80D3FC0A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Manage Scope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90B54-8F2C-08D4-F566-AC2C4E77E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Define Clear Scope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/>
              <a:t>Project Charter</a:t>
            </a:r>
          </a:p>
          <a:p>
            <a:pPr lvl="1"/>
            <a:r>
              <a:rPr lang="en-US" dirty="0"/>
              <a:t>Scope Statement</a:t>
            </a:r>
          </a:p>
          <a:p>
            <a:pPr lvl="1"/>
            <a:r>
              <a:rPr lang="en-US" dirty="0"/>
              <a:t>Product Backlog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Document what is </a:t>
            </a:r>
            <a:r>
              <a:rPr lang="en-US" b="1" dirty="0"/>
              <a:t>in scope</a:t>
            </a:r>
            <a:r>
              <a:rPr lang="en-US" dirty="0"/>
              <a:t> and </a:t>
            </a:r>
            <a:r>
              <a:rPr lang="en-US" b="1" dirty="0"/>
              <a:t>out of scope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Get Stakeholder Sign-Off</a:t>
            </a:r>
          </a:p>
          <a:p>
            <a:pPr lvl="1"/>
            <a:r>
              <a:rPr lang="en-US" dirty="0"/>
              <a:t>Ensure all key stakeholders approve scope.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770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DC83-3108-74C6-D89A-BBD37605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9CF1-C370-B989-3034-E08323EB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Manage Scope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E9F24-4833-705B-65AC-02FD63389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Use Change Control Process</a:t>
            </a:r>
          </a:p>
          <a:p>
            <a:r>
              <a:rPr lang="en-US" b="1" dirty="0"/>
              <a:t>Tool:</a:t>
            </a:r>
            <a:r>
              <a:rPr lang="en-US" dirty="0"/>
              <a:t> Change Request Log</a:t>
            </a:r>
          </a:p>
          <a:p>
            <a:r>
              <a:rPr lang="en-US" b="1" dirty="0"/>
              <a:t>Steps:</a:t>
            </a:r>
            <a:endParaRPr lang="en-US" dirty="0"/>
          </a:p>
          <a:p>
            <a:pPr lvl="1"/>
            <a:r>
              <a:rPr lang="en-US" dirty="0"/>
              <a:t>Submit change request</a:t>
            </a:r>
          </a:p>
          <a:p>
            <a:pPr lvl="1"/>
            <a:r>
              <a:rPr lang="en-US" dirty="0"/>
              <a:t>Analyze impact (time, cost, resources)</a:t>
            </a:r>
          </a:p>
          <a:p>
            <a:pPr lvl="1"/>
            <a:r>
              <a:rPr lang="en-US" dirty="0"/>
              <a:t>Approve/reject change</a:t>
            </a:r>
          </a:p>
          <a:p>
            <a:pPr lvl="1"/>
            <a:r>
              <a:rPr lang="en-US" dirty="0"/>
              <a:t>Update plans</a:t>
            </a:r>
          </a:p>
          <a:p>
            <a:pPr marL="0" indent="0">
              <a:buNone/>
            </a:pPr>
            <a:r>
              <a:rPr lang="en-US" b="1" dirty="0"/>
              <a:t>Set Expectations Early</a:t>
            </a:r>
          </a:p>
          <a:p>
            <a:pPr lvl="1"/>
            <a:r>
              <a:rPr lang="en-US" dirty="0"/>
              <a:t>What changes mean for cost and timeline</a:t>
            </a:r>
          </a:p>
          <a:p>
            <a:pPr lvl="1"/>
            <a:r>
              <a:rPr lang="en-US" dirty="0"/>
              <a:t>Trade-offs involved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782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04B5-0BE3-0936-2CC1-B0B8A812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7E76-E29D-2412-BFF8-7D2A2A83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Manage Scope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6DC5A-763A-E86C-7BC9-22009CCD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Strong Communication Plan</a:t>
            </a:r>
          </a:p>
          <a:p>
            <a:pPr lvl="1"/>
            <a:r>
              <a:rPr lang="en-US" dirty="0"/>
              <a:t>Regular updates reduce surprise requests.</a:t>
            </a:r>
          </a:p>
          <a:p>
            <a:pPr marL="0" indent="0">
              <a:buNone/>
            </a:pPr>
            <a:r>
              <a:rPr lang="en-US" b="1" dirty="0"/>
              <a:t>Prioritize Requirements</a:t>
            </a:r>
          </a:p>
          <a:p>
            <a:r>
              <a:rPr lang="en-US" b="1" dirty="0"/>
              <a:t>Tools:</a:t>
            </a:r>
            <a:endParaRPr lang="en-US" dirty="0"/>
          </a:p>
          <a:p>
            <a:pPr lvl="1"/>
            <a:r>
              <a:rPr lang="en-US" dirty="0" err="1"/>
              <a:t>MoSCoW</a:t>
            </a:r>
            <a:r>
              <a:rPr lang="en-US" dirty="0"/>
              <a:t> technique</a:t>
            </a:r>
          </a:p>
          <a:p>
            <a:pPr lvl="1"/>
            <a:r>
              <a:rPr lang="en-US" dirty="0"/>
              <a:t>Product backlog refinement</a:t>
            </a:r>
          </a:p>
          <a:p>
            <a:pPr marL="0" indent="0">
              <a:buNone/>
            </a:pPr>
            <a:r>
              <a:rPr lang="en-US" b="1" dirty="0"/>
              <a:t>Agile Approach (Controlled Changes)</a:t>
            </a:r>
          </a:p>
          <a:p>
            <a:pPr lvl="1"/>
            <a:r>
              <a:rPr lang="en-US" dirty="0"/>
              <a:t>Freeze sprint scope</a:t>
            </a:r>
          </a:p>
          <a:p>
            <a:pPr lvl="1"/>
            <a:r>
              <a:rPr lang="en-US" dirty="0"/>
              <a:t>Add new requests to backlog</a:t>
            </a:r>
          </a:p>
          <a:p>
            <a:pPr lvl="1"/>
            <a:r>
              <a:rPr lang="en-US" dirty="0"/>
              <a:t>Reprioritize for future sprints</a:t>
            </a:r>
          </a:p>
          <a:p>
            <a:pPr marL="0" indent="0">
              <a:buNone/>
            </a:pPr>
            <a:r>
              <a:rPr lang="en-US" b="1" dirty="0"/>
              <a:t>Use RACI Matrix</a:t>
            </a:r>
          </a:p>
          <a:p>
            <a:pPr lvl="1"/>
            <a:r>
              <a:rPr lang="en-US" dirty="0"/>
              <a:t>Clarify who can approve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F543F2F210C42A1AB556EC2E2AD39" ma:contentTypeVersion="3" ma:contentTypeDescription="Create a new document." ma:contentTypeScope="" ma:versionID="e5606db6c3531daf026a8fd548c663ad">
  <xsd:schema xmlns:xsd="http://www.w3.org/2001/XMLSchema" xmlns:xs="http://www.w3.org/2001/XMLSchema" xmlns:p="http://schemas.microsoft.com/office/2006/metadata/properties" xmlns:ns2="a4f7e055-52ed-4413-8839-c7f22b2234f6" targetNamespace="http://schemas.microsoft.com/office/2006/metadata/properties" ma:root="true" ma:fieldsID="fc3079c0926d43e5991d1c902ac675e6" ns2:_="">
    <xsd:import namespace="a4f7e055-52ed-4413-8839-c7f22b2234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e055-52ed-4413-8839-c7f22b223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C5585D-8DB2-41A7-A7AE-234D7DAD73FC}">
  <ds:schemaRefs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a4f7e055-52ed-4413-8839-c7f22b2234f6"/>
  </ds:schemaRefs>
</ds:datastoreItem>
</file>

<file path=customXml/itemProps2.xml><?xml version="1.0" encoding="utf-8"?>
<ds:datastoreItem xmlns:ds="http://schemas.openxmlformats.org/officeDocument/2006/customXml" ds:itemID="{25D3953C-CE24-4E89-975A-1EB24383C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7e055-52ed-4413-8839-c7f22b2234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3601E2-8D18-4EA6-8088-6B1C25A8A9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2016</Words>
  <Application>Microsoft Office PowerPoint</Application>
  <PresentationFormat>Widescreen</PresentationFormat>
  <Paragraphs>423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Aptos Display</vt:lpstr>
      <vt:lpstr>Arial</vt:lpstr>
      <vt:lpstr>Office Theme</vt:lpstr>
      <vt:lpstr>Stakeholder</vt:lpstr>
      <vt:lpstr>Stakeholders</vt:lpstr>
      <vt:lpstr>Stakeholder Register</vt:lpstr>
      <vt:lpstr>PowerPoint Presentation</vt:lpstr>
      <vt:lpstr>Stakeholder Management</vt:lpstr>
      <vt:lpstr>Basic Concepts of Stakeholder Management</vt:lpstr>
      <vt:lpstr>Power – Interest Grid</vt:lpstr>
      <vt:lpstr>Power – Interest Grid</vt:lpstr>
      <vt:lpstr>Power – Interest Grid</vt:lpstr>
      <vt:lpstr>Basic Concepts of Stakeholder Management</vt:lpstr>
      <vt:lpstr>Basic Concepts of Stakeholder Management</vt:lpstr>
      <vt:lpstr>Basic Concepts of Stakeholder Management</vt:lpstr>
      <vt:lpstr>RACI</vt:lpstr>
      <vt:lpstr>RACI</vt:lpstr>
      <vt:lpstr>RACI</vt:lpstr>
      <vt:lpstr>Basic Concepts of Stakeholder Management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Managing Stakeholder Expectations</vt:lpstr>
      <vt:lpstr>Basic Concepts of Stakeholder Management</vt:lpstr>
      <vt:lpstr>Basic Concepts of Stakeholder Management</vt:lpstr>
      <vt:lpstr>Basic Concepts of Stakeholder Management</vt:lpstr>
      <vt:lpstr>Importance of Communication Plan</vt:lpstr>
      <vt:lpstr>Communication Management</vt:lpstr>
      <vt:lpstr>Why?</vt:lpstr>
      <vt:lpstr>Real-World IT Company Scenario</vt:lpstr>
      <vt:lpstr>Scope Creep</vt:lpstr>
      <vt:lpstr>Scope Creep – Why Important”</vt:lpstr>
      <vt:lpstr>Scope Creep – Benefits!</vt:lpstr>
      <vt:lpstr>Scope Creep - Challenges</vt:lpstr>
      <vt:lpstr>Is Scope Creep Good or Bad?</vt:lpstr>
      <vt:lpstr>Why Scope Creep Happens (IT Context)</vt:lpstr>
      <vt:lpstr>How to Manage Scope Creep</vt:lpstr>
      <vt:lpstr>How to Manage Scope Creep</vt:lpstr>
      <vt:lpstr>How to Manage Scope Creep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Kc</dc:creator>
  <cp:lastModifiedBy>Surendra Kc</cp:lastModifiedBy>
  <cp:revision>3</cp:revision>
  <dcterms:created xsi:type="dcterms:W3CDTF">2026-02-03T09:37:29Z</dcterms:created>
  <dcterms:modified xsi:type="dcterms:W3CDTF">2026-07-07T13:18:52Z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0x0101007B7F543F2F210C42A1AB556EC2E2AD39</vt:lpwstr>
  </property>
</Properties>
</file>